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rimo" panose="020B0604020202020204" pitchFamily="34" charset="0"/>
      <p:regular r:id="rId15"/>
    </p:embeddedFont>
    <p:embeddedFont>
      <p:font typeface="Arimo Bold" panose="020B0704020202020204" pitchFamily="34" charset="0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(MS)" panose="020F0502020204030204" pitchFamily="34" charset="0"/>
      <p:regular r:id="rId21"/>
    </p:embeddedFont>
    <p:embeddedFont>
      <p:font typeface="Calibri (MS) Bold" panose="020F0702030404030204" pitchFamily="34" charset="0"/>
      <p:bold r:id="rId22"/>
    </p:embeddedFont>
    <p:embeddedFont>
      <p:font typeface="IBM Plex Sans" panose="020B0503050203000203" pitchFamily="34" charset="0"/>
      <p:regular r:id="rId23"/>
    </p:embeddedFont>
    <p:embeddedFont>
      <p:font typeface="IBM Plex Sans Bold" panose="020B0803050203000203" pitchFamily="34" charset="0"/>
      <p:bold r:id="rId24"/>
    </p:embeddedFont>
    <p:embeddedFont>
      <p:font typeface="IBM Plex Sans Condensed" panose="020B0503050203000203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font" Target="fonts/font7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5" Type="http://schemas.openxmlformats.org/officeDocument/2006/relationships/font" Target="fonts/font11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font" Target="fonts/font6.fntdata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10.fntdata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23" Type="http://schemas.openxmlformats.org/officeDocument/2006/relationships/font" Target="fonts/font9.fntdata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5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8.fntdata" /><Relationship Id="rId2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7559" y="592084"/>
            <a:ext cx="7609075" cy="1008116"/>
            <a:chOff x="0" y="0"/>
            <a:chExt cx="10145433" cy="13441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45395" cy="1344168"/>
            </a:xfrm>
            <a:custGeom>
              <a:avLst/>
              <a:gdLst/>
              <a:ahLst/>
              <a:cxnLst/>
              <a:rect l="l" t="t" r="r" b="b"/>
              <a:pathLst>
                <a:path w="10145395" h="1344168">
                  <a:moveTo>
                    <a:pt x="0" y="0"/>
                  </a:moveTo>
                  <a:lnTo>
                    <a:pt x="10145395" y="0"/>
                  </a:lnTo>
                  <a:lnTo>
                    <a:pt x="10145395" y="1344168"/>
                  </a:lnTo>
                  <a:lnTo>
                    <a:pt x="0" y="1344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43491" y="1807091"/>
            <a:ext cx="10505018" cy="11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0"/>
              </a:lnSpc>
            </a:pPr>
            <a:endParaRPr/>
          </a:p>
          <a:p>
            <a:pPr algn="ctr">
              <a:lnSpc>
                <a:spcPts val="4750"/>
              </a:lnSpc>
            </a:pPr>
            <a:r>
              <a:rPr lang="en-US" sz="4405" spc="-52">
                <a:solidFill>
                  <a:srgbClr val="843C0C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MATRIX OPERATION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7775" y="4051463"/>
            <a:ext cx="3641408" cy="284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205" b="1" spc="-8">
                <a:solidFill>
                  <a:srgbClr val="002060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Presentation By :</a:t>
            </a:r>
          </a:p>
          <a:p>
            <a:pPr algn="l">
              <a:lnSpc>
                <a:spcPts val="2810"/>
              </a:lnSpc>
            </a:pPr>
            <a:endParaRPr lang="en-US" sz="2205" b="1" spc="-8">
              <a:solidFill>
                <a:srgbClr val="002060"/>
              </a:solidFill>
              <a:latin typeface="IBM Plex Sans Bold" panose="020B0803050203000203"/>
              <a:ea typeface="IBM Plex Sans Bold" panose="020B0803050203000203"/>
              <a:cs typeface="IBM Plex Sans Bold" panose="020B0803050203000203"/>
              <a:sym typeface="IBM Plex Sans Bold" panose="020B0803050203000203"/>
            </a:endParaRPr>
          </a:p>
          <a:p>
            <a:pPr algn="l">
              <a:lnSpc>
                <a:spcPts val="2810"/>
              </a:lnSpc>
            </a:pPr>
            <a:r>
              <a:rPr lang="en-US" sz="2005" spc="-8">
                <a:solidFill>
                  <a:srgbClr val="00206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K.Vinootna - 25B11AI618</a:t>
            </a:r>
          </a:p>
          <a:p>
            <a:pPr algn="l">
              <a:lnSpc>
                <a:spcPts val="2810"/>
              </a:lnSpc>
            </a:pPr>
            <a:r>
              <a:rPr lang="en-US" sz="2005" spc="-8">
                <a:solidFill>
                  <a:srgbClr val="00206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I.Chaitrika Sri - 25B11AI715</a:t>
            </a:r>
          </a:p>
          <a:p>
            <a:pPr algn="l">
              <a:lnSpc>
                <a:spcPts val="2810"/>
              </a:lnSpc>
            </a:pPr>
            <a:r>
              <a:rPr lang="en-US" sz="2005" spc="-8">
                <a:solidFill>
                  <a:srgbClr val="00206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V.Deekshitha - 25B11AIC54</a:t>
            </a:r>
          </a:p>
          <a:p>
            <a:pPr algn="l">
              <a:lnSpc>
                <a:spcPts val="2810"/>
              </a:lnSpc>
            </a:pPr>
            <a:r>
              <a:rPr lang="en-US" sz="2005" spc="-8">
                <a:solidFill>
                  <a:srgbClr val="00206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M.Madhu Shalini - 25B11AI758 </a:t>
            </a:r>
          </a:p>
          <a:p>
            <a:pPr algn="l">
              <a:lnSpc>
                <a:spcPts val="2810"/>
              </a:lnSpc>
            </a:pPr>
            <a:endParaRPr lang="en-US" sz="2005" spc="-8">
              <a:solidFill>
                <a:srgbClr val="002060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algn="l">
              <a:lnSpc>
                <a:spcPts val="2810"/>
              </a:lnSpc>
            </a:pPr>
            <a:endParaRPr lang="en-US" sz="2005" spc="-8">
              <a:solidFill>
                <a:srgbClr val="002060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874999" y="4222636"/>
            <a:ext cx="3024226" cy="1571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5"/>
              </a:lnSpc>
            </a:pPr>
            <a:r>
              <a:rPr lang="en-US" sz="2005" spc="-8">
                <a:solidFill>
                  <a:srgbClr val="00206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Under the Supervision of T.Vijaya Lakshmi(M.TECH) Assistant Professor</a:t>
            </a:r>
          </a:p>
          <a:p>
            <a:pPr algn="ctr">
              <a:lnSpc>
                <a:spcPts val="3155"/>
              </a:lnSpc>
            </a:pPr>
            <a:r>
              <a:rPr lang="en-US" sz="2005" spc="-8">
                <a:solidFill>
                  <a:srgbClr val="00206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Department of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661660" y="76200"/>
            <a:ext cx="1401445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13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Ind</a:t>
            </a:r>
            <a:r>
              <a:rPr lang="en-IN" altLang="en-US" sz="3395" spc="-13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</a:t>
            </a:r>
            <a:r>
              <a:rPr lang="en-US" sz="3395" spc="-13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7039" y="956339"/>
            <a:ext cx="244612" cy="544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2400" spc="14">
                <a:solidFill>
                  <a:srgbClr val="000000"/>
                </a:solidFill>
                <a:latin typeface="IBM Plex Sans Condensed" panose="020B0506050203000203"/>
                <a:ea typeface="IBM Plex Sans Condensed" panose="020B0506050203000203"/>
                <a:cs typeface="IBM Plex Sans Condensed" panose="020B0506050203000203"/>
                <a:sym typeface="IBM Plex Sans Condensed" panose="020B0506050203000203"/>
              </a:rPr>
              <a:t>✓ ✓ ✓ ✓ ✓ ✓ ✓ ✓ ✓ 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0244" y="928735"/>
            <a:ext cx="4245283" cy="544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 spc="-9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Abstract </a:t>
            </a:r>
          </a:p>
          <a:p>
            <a:pPr algn="l">
              <a:lnSpc>
                <a:spcPts val="4320"/>
              </a:lnSpc>
            </a:pPr>
            <a:r>
              <a:rPr lang="en-US" sz="2400" spc="-9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Introduction </a:t>
            </a:r>
          </a:p>
          <a:p>
            <a:pPr algn="l">
              <a:lnSpc>
                <a:spcPts val="4320"/>
              </a:lnSpc>
            </a:pPr>
            <a:r>
              <a:rPr lang="en-US" sz="2400" spc="-9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Problem Statement </a:t>
            </a:r>
          </a:p>
          <a:p>
            <a:pPr algn="l">
              <a:lnSpc>
                <a:spcPts val="4320"/>
              </a:lnSpc>
            </a:pPr>
            <a:r>
              <a:rPr lang="en-US" sz="2400" spc="-9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Objectives of Project</a:t>
            </a:r>
          </a:p>
          <a:p>
            <a:pPr algn="l">
              <a:lnSpc>
                <a:spcPts val="4320"/>
              </a:lnSpc>
            </a:pPr>
            <a:r>
              <a:rPr lang="en-US" sz="2400" spc="-9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Users of the system Modules/Functionalities Architecture Diagram</a:t>
            </a:r>
          </a:p>
          <a:p>
            <a:pPr algn="l">
              <a:lnSpc>
                <a:spcPts val="4320"/>
              </a:lnSpc>
            </a:pPr>
            <a:r>
              <a:rPr lang="en-US" sz="2400" spc="-9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ER Diagram / DFD</a:t>
            </a:r>
          </a:p>
          <a:p>
            <a:pPr algn="l">
              <a:lnSpc>
                <a:spcPts val="4320"/>
              </a:lnSpc>
            </a:pPr>
            <a:r>
              <a:rPr lang="en-US" sz="2400" spc="-9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Planning and Timeline Diagram Role of each individual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145281" y="76381"/>
            <a:ext cx="2119960" cy="58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13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ABSTRACT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17506" y="2000542"/>
            <a:ext cx="8509624" cy="402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345" lvl="1" indent="-237490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21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 Matrix Operation System is a system designed to perform mathematical operations on matrices efficiently and accurately.</a:t>
            </a:r>
          </a:p>
          <a:p>
            <a:pPr marL="474345" lvl="1" indent="-237490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21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It supports basic operations such as matrix addition, subtraction, multiplication, and transpose.</a:t>
            </a:r>
          </a:p>
          <a:p>
            <a:pPr marL="474345" lvl="1" indent="-237490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21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system simplifies complex matrix calculations and reduces manual effort.</a:t>
            </a:r>
          </a:p>
          <a:p>
            <a:pPr marL="474345" lvl="1" indent="-237490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21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It helps minimize calculation errors and saves time when working with large matrices.</a:t>
            </a:r>
          </a:p>
          <a:p>
            <a:pPr marL="474345" lvl="1" indent="-237490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21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system can be used in engineering, computer science, data analysis, and scientific applications.</a:t>
            </a:r>
          </a:p>
          <a:p>
            <a:pPr marL="474345" lvl="1" indent="-237490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21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main objective is to provide a simple, user-friendly, and efficient way to perform matrix operations.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5870" y="1137920"/>
            <a:ext cx="6242050" cy="591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5"/>
              </a:lnSpc>
            </a:pPr>
            <a:r>
              <a:rPr lang="en-US" sz="3295" b="1" spc="-13">
                <a:solidFill>
                  <a:srgbClr val="000000"/>
                </a:solidFill>
                <a:latin typeface="IBM Plex Sans Bold" panose="020B0803050203000203"/>
                <a:ea typeface="IBM Plex Sans Bold" panose="020B0803050203000203"/>
                <a:cs typeface="IBM Plex Sans Bold" panose="020B0803050203000203"/>
                <a:sym typeface="IBM Plex Sans Bold" panose="020B0803050203000203"/>
              </a:rPr>
              <a:t>Matrix Operation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32012" y="652120"/>
            <a:ext cx="11773131" cy="543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endParaRPr/>
          </a:p>
          <a:p>
            <a:pPr algn="l">
              <a:lnSpc>
                <a:spcPts val="4195"/>
              </a:lnSpc>
            </a:pPr>
            <a:r>
              <a:rPr lang="en-US" sz="299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Matrix Operation System</a:t>
            </a:r>
          </a:p>
          <a:p>
            <a:pPr algn="l">
              <a:lnSpc>
                <a:spcPts val="3495"/>
              </a:lnSpc>
            </a:pPr>
            <a:endParaRPr lang="en-US" sz="2995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 Matrix Operation System is a C++-based application designed to perform different mathematical operations on matrices.</a:t>
            </a: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It allows users to enter matrix elements and select the required operation through a simple menu.</a:t>
            </a: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system performs calculations such as addition, subtraction, multiplication, and transpose.</a:t>
            </a: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It checks matrix dimensions to ensure that the selected operations can be performed correctly.</a:t>
            </a: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By using Object-Oriented Programming concepts, the system organizes matrix operations into reusable and manageable functions.</a:t>
            </a: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system displays the results in a clear format, making matrix calculations easier to understand and perform.</a:t>
            </a:r>
          </a:p>
          <a:p>
            <a:pPr marL="474980" lvl="1" indent="-237490" algn="l">
              <a:lnSpc>
                <a:spcPts val="308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It provides a practical way to apply C++ programming concepts to solve mathematical problems.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85274" y="6427832"/>
            <a:ext cx="78972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89961" y="76381"/>
            <a:ext cx="3457232" cy="58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6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19201" y="1261643"/>
            <a:ext cx="11672799" cy="4475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2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Performing matrix operations manually can be time-consuming and may lead to calculation errors, especially when dealing with large matrices. A simple and efficient system is needed to perform matrix calculations accurately and reduce manual effort.</a:t>
            </a:r>
          </a:p>
          <a:p>
            <a:pPr algn="l">
              <a:lnSpc>
                <a:spcPts val="3215"/>
              </a:lnSpc>
            </a:pPr>
            <a:endParaRPr lang="en-US" sz="2295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3495"/>
              </a:lnSpc>
            </a:pPr>
            <a:r>
              <a:rPr lang="en-US" sz="249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Challenges in Manual Matrix Operations:</a:t>
            </a:r>
          </a:p>
          <a:p>
            <a:pPr algn="l">
              <a:lnSpc>
                <a:spcPts val="3215"/>
              </a:lnSpc>
            </a:pPr>
            <a:endParaRPr lang="en-US" sz="2495" b="1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Time-consuming calculations for large matrices.</a:t>
            </a: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Possibility of human errors during repeated operations.</a:t>
            </a: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Difficulty in managing multiple matrix operations.</a:t>
            </a: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Manual calculations are difficult to verify.</a:t>
            </a: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Lack of a simple, organized approach to perform operations efficiently.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85274" y="6427832"/>
            <a:ext cx="78972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97436" y="16364"/>
            <a:ext cx="4942100" cy="58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5"/>
              </a:lnSpc>
            </a:pPr>
            <a:r>
              <a:rPr lang="en-US" sz="3400" spc="-6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PROBLEM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31184" y="1451867"/>
            <a:ext cx="10956013" cy="432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5"/>
              </a:lnSpc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The main objectives of the Matrix Operation System are:</a:t>
            </a:r>
          </a:p>
          <a:p>
            <a:pPr algn="l">
              <a:lnSpc>
                <a:spcPts val="3775"/>
              </a:lnSpc>
            </a:pPr>
            <a:endParaRPr lang="en-US" sz="27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582295" lvl="1" indent="-291465" algn="l">
              <a:lnSpc>
                <a:spcPts val="3775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develop a matrix calculation system using C++.</a:t>
            </a:r>
          </a:p>
          <a:p>
            <a:pPr marL="582295" lvl="1" indent="-291465" algn="l">
              <a:lnSpc>
                <a:spcPts val="3775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perform matrix operations accurately and efficiently.</a:t>
            </a:r>
          </a:p>
          <a:p>
            <a:pPr marL="582295" lvl="1" indent="-291465" algn="l">
              <a:lnSpc>
                <a:spcPts val="3775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reduce manual calculation time and errors.</a:t>
            </a:r>
          </a:p>
          <a:p>
            <a:pPr marL="582295" lvl="1" indent="-291465" algn="l">
              <a:lnSpc>
                <a:spcPts val="3775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apply Object-Oriented Programming concepts in a practical application.</a:t>
            </a:r>
          </a:p>
          <a:p>
            <a:pPr marL="582295" lvl="1" indent="-291465" algn="l">
              <a:lnSpc>
                <a:spcPts val="3775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provide a simple and user-friendly menu-driven interface.</a:t>
            </a:r>
          </a:p>
          <a:p>
            <a:pPr marL="582295" lvl="1" indent="-291465" algn="l">
              <a:lnSpc>
                <a:spcPts val="3775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organize matrix operations using classes and member functions.</a:t>
            </a:r>
          </a:p>
          <a:p>
            <a:pPr marL="582295" lvl="1" indent="-291465" algn="l">
              <a:lnSpc>
                <a:spcPts val="3775"/>
              </a:lnSpc>
              <a:buFont typeface="Arial" panose="020B0604020202020204"/>
              <a:buChar char="•"/>
            </a:pPr>
            <a:r>
              <a:rPr lang="en-US" sz="27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To display clear and accurate results for different matrix operations.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38206" y="1915201"/>
            <a:ext cx="81858" cy="53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79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85274" y="6427832"/>
            <a:ext cx="78972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47615" y="271780"/>
            <a:ext cx="3164205" cy="6140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55"/>
              </a:lnSpc>
            </a:pPr>
            <a:r>
              <a:rPr lang="en-US" sz="3395" spc="-6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762426" y="1006183"/>
          <a:ext cx="7306345" cy="5746544"/>
        </p:xfrm>
        <a:graphic>
          <a:graphicData uri="http://schemas.openxmlformats.org/drawingml/2006/table">
            <a:tbl>
              <a:tblPr/>
              <a:tblGrid>
                <a:gridCol w="292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9265"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mo Bold" panose="020B0704020202020204"/>
                          <a:ea typeface="Arimo Bold" panose="020B0704020202020204"/>
                          <a:cs typeface="Arimo Bold" panose="020B0704020202020204"/>
                          <a:sym typeface="Arimo Bold" panose="020B0704020202020204"/>
                        </a:rPr>
                        <a:t>    USER GROUP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660"/>
                        </a:lnSpc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Arimo Bold" panose="020B0704020202020204"/>
                          <a:ea typeface="Arimo Bold" panose="020B0704020202020204"/>
                          <a:cs typeface="Arimo Bold" panose="020B0704020202020204"/>
                          <a:sym typeface="Arimo Bold" panose="020B0704020202020204"/>
                        </a:rPr>
                        <a:t>PURPOSE / KEY RESPONSIBILITY</a:t>
                      </a:r>
                    </a:p>
                    <a:p>
                      <a:pPr algn="l">
                        <a:lnSpc>
                          <a:spcPts val="2660"/>
                        </a:lnSpc>
                      </a:pPr>
                      <a:endParaRPr lang="en-US" sz="1900" b="1">
                        <a:solidFill>
                          <a:srgbClr val="000000"/>
                        </a:solidFill>
                        <a:latin typeface="Arimo Bold" panose="020B0704020202020204"/>
                        <a:ea typeface="Arimo Bold" panose="020B0704020202020204"/>
                        <a:cs typeface="Arimo Bold" panose="020B0704020202020204"/>
                        <a:sym typeface="Arimo Bold" panose="020B0704020202020204"/>
                      </a:endParaRPr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875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Students 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To perform matrix calculations for academic purposes.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303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Teachers / Faculty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To explain matrix operations and verify results.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303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Programmers / Developers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To develop and test matrix-based programs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545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Engineers 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To perform mathematical and engineering calculations.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3303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Researchers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To use matrix operations in scientific research.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950">
                <a:tc>
                  <a:txBody>
                    <a:bodyPr/>
                    <a:lstStyle/>
                    <a:p>
                      <a:pPr algn="l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Data Analysts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Arimo" panose="020B0604020202020204"/>
                          <a:ea typeface="Arimo" panose="020B0604020202020204"/>
                          <a:cs typeface="Arimo" panose="020B0604020202020204"/>
                          <a:sym typeface="Arimo" panose="020B0604020202020204"/>
                        </a:rPr>
                        <a:t> To apply matrix operations in data processing.</a:t>
                      </a:r>
                      <a:endParaRPr lang="en-US" sz="1100"/>
                    </a:p>
                  </a:txBody>
                  <a:tcPr marL="133350" marR="133350" marT="133350" marB="13335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1185274" y="6427832"/>
            <a:ext cx="78972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85460" y="76200"/>
            <a:ext cx="1684020" cy="609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3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73125" y="1426210"/>
            <a:ext cx="10498455" cy="50399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Input Module: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Accepts matrix dimensions and elements from the user.</a:t>
            </a:r>
          </a:p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Validation Module: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Checks matrix dimensions and validates input values.</a:t>
            </a:r>
          </a:p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Addition Module: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Performs addition of two matrices of the same order.</a:t>
            </a:r>
          </a:p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Subtraction Module: 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Performs subtraction of two matrices of the same order.</a:t>
            </a:r>
          </a:p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Multiplication Module: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Performs matrix multiplication using rows and columns.</a:t>
            </a:r>
          </a:p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Transpose Module: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Converts matrix rows into columns and columns into rows.</a:t>
            </a:r>
          </a:p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Result Module: 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Displays the output of the selected matrix operation.</a:t>
            </a:r>
          </a:p>
          <a:p>
            <a:pPr marL="541020" lvl="1" indent="-270510" algn="l">
              <a:lnSpc>
                <a:spcPts val="3510"/>
              </a:lnSpc>
              <a:buFont typeface="Arial" panose="020B0604020202020204"/>
              <a:buChar char="•"/>
            </a:pPr>
            <a:r>
              <a:rPr lang="en-US" sz="2505" b="1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Reset / Exit Module:</a:t>
            </a:r>
            <a:r>
              <a:rPr lang="en-US" sz="25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Allows users to clear inputs or exit the system.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46533" y="1911696"/>
            <a:ext cx="76238" cy="48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605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85274" y="6427832"/>
            <a:ext cx="78972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56304" y="100994"/>
            <a:ext cx="4547730" cy="110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5"/>
              </a:lnSpc>
            </a:pPr>
            <a:r>
              <a:rPr lang="en-US" sz="3400" spc="-10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MODULES/FUNCTION ALITIES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203382" y="1556642"/>
            <a:ext cx="6002320" cy="4803559"/>
            <a:chOff x="0" y="0"/>
            <a:chExt cx="7548537" cy="60409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548499" cy="6041009"/>
            </a:xfrm>
            <a:custGeom>
              <a:avLst/>
              <a:gdLst/>
              <a:ahLst/>
              <a:cxnLst/>
              <a:rect l="l" t="t" r="r" b="b"/>
              <a:pathLst>
                <a:path w="7548499" h="6041009">
                  <a:moveTo>
                    <a:pt x="0" y="0"/>
                  </a:moveTo>
                  <a:lnTo>
                    <a:pt x="7548499" y="0"/>
                  </a:lnTo>
                  <a:lnTo>
                    <a:pt x="7548499" y="6041009"/>
                  </a:lnTo>
                  <a:lnTo>
                    <a:pt x="0" y="604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185274" y="6427832"/>
            <a:ext cx="78972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25289" y="101346"/>
            <a:ext cx="3358505" cy="5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400" spc="-10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ARCHITECTURE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2713" y="619125"/>
            <a:ext cx="2063658" cy="58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6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476091" y="1192803"/>
            <a:ext cx="7469017" cy="4979397"/>
            <a:chOff x="0" y="0"/>
            <a:chExt cx="9061361" cy="60409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61323" cy="6041009"/>
            </a:xfrm>
            <a:custGeom>
              <a:avLst/>
              <a:gdLst/>
              <a:ahLst/>
              <a:cxnLst/>
              <a:rect l="l" t="t" r="r" b="b"/>
              <a:pathLst>
                <a:path w="9061323" h="6041009">
                  <a:moveTo>
                    <a:pt x="0" y="0"/>
                  </a:moveTo>
                  <a:lnTo>
                    <a:pt x="9061323" y="0"/>
                  </a:lnTo>
                  <a:lnTo>
                    <a:pt x="9061323" y="6041009"/>
                  </a:lnTo>
                  <a:lnTo>
                    <a:pt x="0" y="604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107550" y="6427832"/>
            <a:ext cx="158248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 spc="2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60293" y="76381"/>
            <a:ext cx="2700614" cy="58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6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ER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781060" y="1559494"/>
            <a:ext cx="8990563" cy="4612706"/>
          </a:xfrm>
          <a:custGeom>
            <a:avLst/>
            <a:gdLst/>
            <a:ahLst/>
            <a:cxnLst/>
            <a:rect l="l" t="t" r="r" b="b"/>
            <a:pathLst>
              <a:path w="8990563" h="4612706">
                <a:moveTo>
                  <a:pt x="0" y="0"/>
                </a:moveTo>
                <a:lnTo>
                  <a:pt x="8990563" y="0"/>
                </a:lnTo>
                <a:lnTo>
                  <a:pt x="8990563" y="4612706"/>
                </a:lnTo>
                <a:lnTo>
                  <a:pt x="0" y="461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26" r="-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107550" y="6427832"/>
            <a:ext cx="158248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 spc="2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11570" y="101346"/>
            <a:ext cx="2829049" cy="5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400" spc="-3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PLANNING &amp;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02349" y="619125"/>
            <a:ext cx="4147985" cy="58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6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TIMELINEDIAGRAM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5517" y="3105417"/>
            <a:ext cx="100965" cy="580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5"/>
              </a:lnSpc>
              <a:spcBef>
                <a:spcPct val="0"/>
              </a:spcBef>
            </a:pPr>
            <a:r>
              <a:rPr lang="en-US" sz="3395" spc="-6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107550" y="6427832"/>
            <a:ext cx="158248" cy="2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0" spc="2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79336" y="101346"/>
            <a:ext cx="3233328" cy="5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400" spc="-10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ROLE OF EACH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8721" y="619125"/>
            <a:ext cx="2492131" cy="58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5" spc="-13">
                <a:solidFill>
                  <a:srgbClr val="0070C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INDIVIDUAL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7032" y="1857223"/>
            <a:ext cx="3023299" cy="116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M.MADHU SHALINI :​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📑 Slides: 1–3​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🎯 Role: Introduction,​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Problem Statement, Objectives​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60852" y="1708948"/>
            <a:ext cx="2991692" cy="1462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V.DEEKSHITHA :​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📑 Slides: 4–6​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🎯 Role: Users, Modules &amp; Functionalities, System Design​</a:t>
            </a:r>
          </a:p>
          <a:p>
            <a:pPr algn="ctr">
              <a:lnSpc>
                <a:spcPts val="2360"/>
              </a:lnSpc>
              <a:spcBef>
                <a:spcPct val="0"/>
              </a:spcBef>
            </a:pPr>
            <a:endParaRPr lang="en-US" sz="1685" spc="-3">
              <a:solidFill>
                <a:srgbClr val="000000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54764" y="3675914"/>
            <a:ext cx="2935566" cy="205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I.CHAITRIKA SRI :​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📑 Slides: 7–9​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🎯 Role: Algorithm, Matrix Multiplication Process, Implementation​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endParaRPr lang="en-US" sz="1685" spc="-3">
              <a:solidFill>
                <a:srgbClr val="000000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260852" y="3675914"/>
            <a:ext cx="3647028" cy="205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K.VINOOTNA :​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📑 Slides: 7–9​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🎯 Role: Algorithm, Matrix Multiplication Process, Implementation​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1685" spc="-3">
                <a:solidFill>
                  <a:srgbClr val="00000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​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endParaRPr lang="en-US" sz="1685" spc="-3">
              <a:solidFill>
                <a:srgbClr val="000000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08881" cy="1556642"/>
            <a:chOff x="0" y="0"/>
            <a:chExt cx="4011841" cy="207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11803" cy="2075561"/>
            </a:xfrm>
            <a:custGeom>
              <a:avLst/>
              <a:gdLst/>
              <a:ahLst/>
              <a:cxnLst/>
              <a:rect l="l" t="t" r="r" b="b"/>
              <a:pathLst>
                <a:path w="4011803" h="2075561">
                  <a:moveTo>
                    <a:pt x="0" y="0"/>
                  </a:moveTo>
                  <a:lnTo>
                    <a:pt x="4011803" y="0"/>
                  </a:lnTo>
                  <a:lnTo>
                    <a:pt x="4011803" y="2075561"/>
                  </a:lnTo>
                  <a:lnTo>
                    <a:pt x="0" y="2075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99" t="-15631" r="-3"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117210" y="2672239"/>
            <a:ext cx="4262876" cy="124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5"/>
              </a:lnSpc>
            </a:pPr>
            <a:r>
              <a:rPr lang="en-US" sz="7200" spc="-28">
                <a:solidFill>
                  <a:srgbClr val="2F5597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07550" y="6448196"/>
            <a:ext cx="158086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spc="3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4380</Words>
  <Application>Microsoft Office PowerPoint</Application>
  <PresentationFormat>Widescreen</PresentationFormat>
  <Paragraphs>179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CPP1.pdf</dc:title>
  <dc:creator/>
  <cp:lastModifiedBy>25B11AIC54</cp:lastModifiedBy>
  <cp:revision>4</cp:revision>
  <dcterms:created xsi:type="dcterms:W3CDTF">2006-08-16T00:00:00Z</dcterms:created>
  <dcterms:modified xsi:type="dcterms:W3CDTF">2026-10-07T04:42:10Z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C40F6B6E5FD642A593771399A51461CE_13</vt:lpwstr>
  </property>
  <property fmtid="{D5CDD505-2E9C-101B-9397-08002B2CF9AE}" pid="3" name="KSOProductBuildVer">
    <vt:lpwstr>1033-12.1.0.28485</vt:lpwstr>
  </property>
</Properties>
</file>